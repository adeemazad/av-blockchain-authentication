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8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848"/>
    <p:restoredTop sz="94708"/>
  </p:normalViewPr>
  <p:slideViewPr>
    <p:cSldViewPr snapToGrid="0">
      <p:cViewPr varScale="1">
        <p:scale>
          <a:sx n="118" d="100"/>
          <a:sy n="118" d="100"/>
        </p:scale>
        <p:origin x="12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B7D53-E215-A746-950E-04B7349F1F40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62B63-141D-E248-90BC-6F2FBAEE0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0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62B63-141D-E248-90BC-6F2FBAEE0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41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62B63-141D-E248-90BC-6F2FBAEE05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C3B5-4660-CA59-CAAC-5FB61E446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D8E69-D5CD-57A9-A1B5-CC4C08A2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BCA4-D2AE-3ECC-1B48-31E70709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C026-8AC9-F297-6159-53E2E890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0909-52CF-AC87-3F69-662D896C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2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73D1-4BCA-00BB-8DF6-29B1C4B1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4E742-FD9A-E998-EBC6-250902CF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22296-0614-0B07-A4EB-4DF3504E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27E70-E6B0-98BF-F19B-F3A6A12A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EC87C-7984-5641-6647-19E955CF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6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C380-6D3D-E296-2272-D8C2814E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0C555-517D-AB9B-ED3E-3C9AF53A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E9BA4-C3F4-22AD-99C2-EB1CE66E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7AF0-EF43-061B-5835-A69F7226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E8B5A-31AB-4823-2BFE-6C02D73A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0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FD7F-BB00-DFD2-EB89-C0DC51CE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FDCC-BF3F-E6AC-D520-34C11E131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5A02A-F138-3F78-47FE-1437B3B5A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31E2B-F7AF-B6B0-C963-CCAF3007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F7C19-954B-C4E5-A83F-CDE734F1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C3A02-E601-DC51-56B2-10AF0B8A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70BF-83A1-7FF5-475A-9AF1CEBF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3D4CA-2DF4-38E0-FD35-0D33D4A1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38892-CAD0-3BD5-4132-8502F5540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F514-AD1E-C26A-F685-FE5C8DA82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F4266-7879-0FA5-CDBB-6AE7F5073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0B21C-14CF-6343-49A3-05948842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6C68B-B849-F1D4-8EC6-36C40096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653E4-D61A-F436-D3E3-9A507D0A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6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601D-8B78-C96F-B578-39F70FC3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68A8A-2F94-34F9-A61E-BC07F5D1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41AAB-7D55-6C46-8D56-B98C0AA3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34-B9B5-DE0B-275E-20A7B843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C08EC-BA00-BDEC-9164-78AC25D1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437F2-F996-D20C-3944-F9FE8C7D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6EF7A-D29E-3EFB-4F21-228CBC2F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4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3EA7-B38B-DFEF-0969-1824E4F4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1DB2A-1903-BDF0-44AC-5AC9D7EA7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FE819-C681-0105-58D5-5CF03272B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B940B-19F7-2614-60C6-830A942D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C6681-B30F-D050-4BDD-36129F9E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C2AA7-A743-B94C-22F9-8E74D1F2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5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B82A-600F-B61C-0626-868FFB8F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7A46A-238B-E7F6-3CBA-357257160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D82A5-81ED-22A5-DC5D-8F69519B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3F164-092C-4524-1A23-61774A6A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507A-CA5A-CA70-560A-4C28FB1A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47731-7116-A2D8-A349-06385594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2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7A21-33D5-D26A-963D-BC008A34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A4F45-A4B6-9B1F-1EF0-CB8036B1E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D1CA-D950-7942-B1C6-7AB12477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68D9-148B-0019-D061-EADD473E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36B2-32BE-FDD3-332A-25A1CE95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0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B67DE-3CEE-CA48-BB1B-AC16792DE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4805C-5C43-010D-66CC-D96F24403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A9A75-C8CE-C745-6085-AC9ECA81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E48D1-428C-AFF1-DC4B-B40E426A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9FB82-9C76-A8DF-EDA4-B26F52E8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C3619-8D37-B1CE-BB27-D3697C95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47C7B-1F77-05FC-ADD1-F932CA698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E6617-704F-A2FF-1031-DB15C8BDA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0DE70-DC12-6C41-A0E1-8120DDDC03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4B898-04DB-A1FA-3777-E51AA879A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CBBD6-C34F-4B33-AEFA-60754F4C5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89756-59B6-BA46-AE3B-5D9BDD2A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walking on a street&#10;&#10;Description automatically generated">
            <a:extLst>
              <a:ext uri="{FF2B5EF4-FFF2-40B4-BE49-F238E27FC236}">
                <a16:creationId xmlns:a16="http://schemas.microsoft.com/office/drawing/2014/main" id="{F94D42A0-1EF6-BB04-90D7-40AEBCC791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466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D2F5F4-BCC7-84C3-D7A8-0DB59936E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556" y="1108945"/>
            <a:ext cx="10148888" cy="2900518"/>
          </a:xfrm>
        </p:spPr>
        <p:txBody>
          <a:bodyPr>
            <a:normAutofit/>
          </a:bodyPr>
          <a:lstStyle/>
          <a:p>
            <a:r>
              <a:rPr lang="en-US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Securing Wireless Vehicle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EA4C7-AF20-EEDE-2848-8C128AD2A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1556" y="4042691"/>
            <a:ext cx="10148888" cy="10983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HB-RPVAM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Hybrid Reputation-Based Blockchain &amp; Proxy Authentication Model</a:t>
            </a:r>
          </a:p>
          <a:p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Adeem Azad (2705207A)</a:t>
            </a:r>
          </a:p>
        </p:txBody>
      </p:sp>
    </p:spTree>
    <p:extLst>
      <p:ext uri="{BB962C8B-B14F-4D97-AF65-F5344CB8AC3E}">
        <p14:creationId xmlns:p14="http://schemas.microsoft.com/office/powerpoint/2010/main" val="424392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0043-15A2-D3EB-D38E-07A0F0D4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Secure Wireless Vehicle Communications?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CD8C-8EB4-96A3-837A-34D78528F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60063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Vehicles exchange critical real-time data: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Collision avoidance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Emergency braking alerts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Traffic congestion notifications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Cyber security threats can lead to: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Impersonation and data theft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Accidents and severe safety risks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Traditional methods struggle at large 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B60C7-51BE-5262-E21C-075E7F51F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066" y="4611145"/>
            <a:ext cx="1592299" cy="720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FAEC8A-93F0-CE9F-816B-F6D3647C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270" y="1109530"/>
            <a:ext cx="1838266" cy="1834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0170FB-A783-99BD-77E1-513FC6C52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1355" y="4268073"/>
            <a:ext cx="781577" cy="1162081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6B4ED42D-D66C-084E-2E8A-4C11ECFB7D4C}"/>
              </a:ext>
            </a:extLst>
          </p:cNvPr>
          <p:cNvSpPr/>
          <p:nvPr/>
        </p:nvSpPr>
        <p:spPr>
          <a:xfrm>
            <a:off x="8626545" y="4877410"/>
            <a:ext cx="2499266" cy="1983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3A19BDF7-A324-725F-25A7-FBB01EFAB000}"/>
              </a:ext>
            </a:extLst>
          </p:cNvPr>
          <p:cNvSpPr/>
          <p:nvPr/>
        </p:nvSpPr>
        <p:spPr>
          <a:xfrm rot="3150379">
            <a:off x="9652830" y="3548287"/>
            <a:ext cx="2166094" cy="1888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AA232758-1A09-368A-5534-650157F7BB0B}"/>
              </a:ext>
            </a:extLst>
          </p:cNvPr>
          <p:cNvSpPr/>
          <p:nvPr/>
        </p:nvSpPr>
        <p:spPr>
          <a:xfrm rot="13957544">
            <a:off x="9816021" y="3335831"/>
            <a:ext cx="2166094" cy="188800"/>
          </a:xfrm>
          <a:prstGeom prst="rightArrow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C0D271C-3594-D2BF-7720-E858877D7501}"/>
              </a:ext>
            </a:extLst>
          </p:cNvPr>
          <p:cNvSpPr/>
          <p:nvPr/>
        </p:nvSpPr>
        <p:spPr>
          <a:xfrm rot="13957544">
            <a:off x="10164344" y="3116597"/>
            <a:ext cx="2166094" cy="188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9F0FBF0-1260-1C25-079D-CC777D8F82E1}"/>
              </a:ext>
            </a:extLst>
          </p:cNvPr>
          <p:cNvSpPr/>
          <p:nvPr/>
        </p:nvSpPr>
        <p:spPr>
          <a:xfrm rot="18628076">
            <a:off x="7414241" y="3377090"/>
            <a:ext cx="2166094" cy="188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E4F6790-8A09-0CAA-E6C5-B0742A45D4D6}"/>
              </a:ext>
            </a:extLst>
          </p:cNvPr>
          <p:cNvSpPr/>
          <p:nvPr/>
        </p:nvSpPr>
        <p:spPr>
          <a:xfrm rot="7771169">
            <a:off x="7593475" y="3551500"/>
            <a:ext cx="2166094" cy="188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AF8499-248A-FC9D-C8A7-E66DCC97D825}"/>
              </a:ext>
            </a:extLst>
          </p:cNvPr>
          <p:cNvSpPr txBox="1"/>
          <p:nvPr/>
        </p:nvSpPr>
        <p:spPr>
          <a:xfrm>
            <a:off x="7262776" y="5364997"/>
            <a:ext cx="763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87A04F-C80A-63D6-04ED-0870714AEC15}"/>
              </a:ext>
            </a:extLst>
          </p:cNvPr>
          <p:cNvSpPr txBox="1"/>
          <p:nvPr/>
        </p:nvSpPr>
        <p:spPr>
          <a:xfrm>
            <a:off x="11210568" y="5380764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Attacker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031B92-84ED-2517-53FC-A28D5A12A062}"/>
              </a:ext>
            </a:extLst>
          </p:cNvPr>
          <p:cNvSpPr txBox="1"/>
          <p:nvPr/>
        </p:nvSpPr>
        <p:spPr>
          <a:xfrm>
            <a:off x="9446006" y="2817389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RSU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A3CF7B-AD1D-D594-6005-147249AD3309}"/>
              </a:ext>
            </a:extLst>
          </p:cNvPr>
          <p:cNvSpPr txBox="1"/>
          <p:nvPr/>
        </p:nvSpPr>
        <p:spPr>
          <a:xfrm>
            <a:off x="9026651" y="4612187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Eavesdropping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F9805C-2C93-F9E9-FFF5-B686F2D111A4}"/>
              </a:ext>
            </a:extLst>
          </p:cNvPr>
          <p:cNvSpPr txBox="1"/>
          <p:nvPr/>
        </p:nvSpPr>
        <p:spPr>
          <a:xfrm rot="3236203">
            <a:off x="10479970" y="3252399"/>
            <a:ext cx="1280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Replay Attack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C4DDA-26A5-2011-B709-4DD281EA820B}"/>
              </a:ext>
            </a:extLst>
          </p:cNvPr>
          <p:cNvSpPr txBox="1"/>
          <p:nvPr/>
        </p:nvSpPr>
        <p:spPr>
          <a:xfrm rot="3205055">
            <a:off x="10565495" y="2950591"/>
            <a:ext cx="1856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Impersonation Attack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F471B0-A25F-91EA-F3E7-1258149C3F74}"/>
              </a:ext>
            </a:extLst>
          </p:cNvPr>
          <p:cNvSpPr txBox="1"/>
          <p:nvPr/>
        </p:nvSpPr>
        <p:spPr>
          <a:xfrm rot="18666076">
            <a:off x="7363186" y="3229975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Message Exchange</a:t>
            </a:r>
          </a:p>
        </p:txBody>
      </p:sp>
    </p:spTree>
    <p:extLst>
      <p:ext uri="{BB962C8B-B14F-4D97-AF65-F5344CB8AC3E}">
        <p14:creationId xmlns:p14="http://schemas.microsoft.com/office/powerpoint/2010/main" val="167620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DDD0-59E1-79C7-4DA3-1BEDB5BF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Current Gaps in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1EE7-D89E-EF45-5DC9-584566B8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PKI-Based Authentication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Public Key Infrastructure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Heavy certificate overhead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Blockchain Based Authentication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High latency &amp; gas costs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ID-MAP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200" i="1" dirty="0">
                <a:latin typeface="Helvetica" pitchFamily="2" charset="0"/>
                <a:cs typeface="Arial" panose="020B0604020202020204" pitchFamily="34" charset="0"/>
              </a:rPr>
              <a:t>I</a:t>
            </a:r>
            <a:r>
              <a:rPr lang="en-GB" sz="2200" i="1" dirty="0">
                <a:effectLst/>
                <a:latin typeface="Helvetica" pitchFamily="2" charset="0"/>
              </a:rPr>
              <a:t>dentity-based Message </a:t>
            </a:r>
            <a:r>
              <a:rPr lang="en-GB" sz="2200" i="1" dirty="0">
                <a:latin typeface="Helvetica" pitchFamily="2" charset="0"/>
              </a:rPr>
              <a:t>A</a:t>
            </a:r>
            <a:r>
              <a:rPr lang="en-GB" sz="2200" i="1" dirty="0">
                <a:effectLst/>
                <a:latin typeface="Helvetica" pitchFamily="2" charset="0"/>
              </a:rPr>
              <a:t>uthentication scheme using Proxy vehicles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Lacks robust trust mechanism </a:t>
            </a:r>
          </a:p>
        </p:txBody>
      </p:sp>
    </p:spTree>
    <p:extLst>
      <p:ext uri="{BB962C8B-B14F-4D97-AF65-F5344CB8AC3E}">
        <p14:creationId xmlns:p14="http://schemas.microsoft.com/office/powerpoint/2010/main" val="38130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6CA7-9692-ECDC-2D11-8F76CAE1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900" b="1">
                <a:latin typeface="Arial" panose="020B0604020202020204" pitchFamily="34" charset="0"/>
                <a:cs typeface="Arial" panose="020B0604020202020204" pitchFamily="34" charset="0"/>
              </a:rPr>
              <a:t>Introducing HB-RPVAM </a:t>
            </a:r>
            <a:r>
              <a:rPr lang="en-US" sz="2700" i="1">
                <a:latin typeface="Arial" panose="020B0604020202020204" pitchFamily="34" charset="0"/>
                <a:cs typeface="Arial" panose="020B0604020202020204" pitchFamily="34" charset="0"/>
              </a:rPr>
              <a:t>(Hybrid Reputation-Based Blockchain &amp; Proxy Vehicle Authentication Model)</a:t>
            </a:r>
            <a:br>
              <a:rPr lang="en-US" sz="4400" i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9FB6-03E0-06BF-1A3F-F82BBABC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Reputation-driven dynamic trust score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Efficient Proxy batch verification (O(log n))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Blockchain with Layer 2 scalability (Low cost, High speed)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AI-driven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136399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06F5-EBCC-B8B1-F84C-84322B2C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5E3E-E521-2016-6510-F701104A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Trusted Authority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Vehicles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OBUs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Proxy Vehicles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Roadside Units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RSUs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Blockchain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Smart Contracts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Scoring Module</a:t>
            </a:r>
          </a:p>
        </p:txBody>
      </p:sp>
      <p:pic>
        <p:nvPicPr>
          <p:cNvPr id="4" name="Picture 3" descr="A diagram of a crossroad with cars and communication network&#10;&#10;Description automatically generated">
            <a:extLst>
              <a:ext uri="{FF2B5EF4-FFF2-40B4-BE49-F238E27FC236}">
                <a16:creationId xmlns:a16="http://schemas.microsoft.com/office/drawing/2014/main" id="{38B1D052-D6C2-8C2F-803C-9C59CCB38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078" y="1825625"/>
            <a:ext cx="6096000" cy="3917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4D5D4B-EE17-90EE-32F0-4E7DFAA0BC74}"/>
              </a:ext>
            </a:extLst>
          </p:cNvPr>
          <p:cNvSpPr txBox="1"/>
          <p:nvPr/>
        </p:nvSpPr>
        <p:spPr>
          <a:xfrm>
            <a:off x="6096000" y="5878454"/>
            <a:ext cx="540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 1: System architecture modelling</a:t>
            </a:r>
          </a:p>
        </p:txBody>
      </p:sp>
    </p:spTree>
    <p:extLst>
      <p:ext uri="{BB962C8B-B14F-4D97-AF65-F5344CB8AC3E}">
        <p14:creationId xmlns:p14="http://schemas.microsoft.com/office/powerpoint/2010/main" val="36689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A7A7-A98A-5837-DE21-DABEFE13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Workflow Overview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C4FB-DECC-42D1-EA25-91A51DAE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Vehicle Registration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Proxy-Based Batch Authentication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Blockchain Trust Management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Adaptive AI Authentication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591124-4A51-25DE-7403-396245681555}"/>
              </a:ext>
            </a:extLst>
          </p:cNvPr>
          <p:cNvSpPr/>
          <p:nvPr/>
        </p:nvSpPr>
        <p:spPr>
          <a:xfrm>
            <a:off x="9103182" y="145885"/>
            <a:ext cx="1011936" cy="4281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C5F33A-258C-3FFD-E2CD-11B2E7173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290420"/>
              </p:ext>
            </p:extLst>
          </p:nvPr>
        </p:nvGraphicFramePr>
        <p:xfrm>
          <a:off x="7379743" y="959030"/>
          <a:ext cx="4458813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035">
                  <a:extLst>
                    <a:ext uri="{9D8B030D-6E8A-4147-A177-3AD203B41FA5}">
                      <a16:colId xmlns:a16="http://schemas.microsoft.com/office/drawing/2014/main" val="3248024771"/>
                    </a:ext>
                  </a:extLst>
                </a:gridCol>
                <a:gridCol w="3705778">
                  <a:extLst>
                    <a:ext uri="{9D8B030D-6E8A-4147-A177-3AD203B41FA5}">
                      <a16:colId xmlns:a16="http://schemas.microsoft.com/office/drawing/2014/main" val="604073004"/>
                    </a:ext>
                  </a:extLst>
                </a:gridCol>
              </a:tblGrid>
              <a:tr h="7768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Vehicle Registration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 assigns ID &amp; Reputation Scores (R0)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Generates ECC Pairs</a:t>
                      </a: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Stores Reputation on Blockchain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044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644F74-C083-2041-26C3-4873EFB6B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20010"/>
              </p:ext>
            </p:extLst>
          </p:nvPr>
        </p:nvGraphicFramePr>
        <p:xfrm>
          <a:off x="7379742" y="2197423"/>
          <a:ext cx="4458813" cy="776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035">
                  <a:extLst>
                    <a:ext uri="{9D8B030D-6E8A-4147-A177-3AD203B41FA5}">
                      <a16:colId xmlns:a16="http://schemas.microsoft.com/office/drawing/2014/main" val="3248024771"/>
                    </a:ext>
                  </a:extLst>
                </a:gridCol>
                <a:gridCol w="3705778">
                  <a:extLst>
                    <a:ext uri="{9D8B030D-6E8A-4147-A177-3AD203B41FA5}">
                      <a16:colId xmlns:a16="http://schemas.microsoft.com/office/drawing/2014/main" val="604073004"/>
                    </a:ext>
                  </a:extLst>
                </a:gridCol>
              </a:tblGrid>
              <a:tr h="7768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Proxy Based Authentication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Vehicles Sign Messages (ECDSA)</a:t>
                      </a: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Trusted Proxies Verify Batch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044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E944E3-268A-269F-EF67-4F2B19EC3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406406"/>
              </p:ext>
            </p:extLst>
          </p:nvPr>
        </p:nvGraphicFramePr>
        <p:xfrm>
          <a:off x="7379741" y="3359229"/>
          <a:ext cx="4458813" cy="776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035">
                  <a:extLst>
                    <a:ext uri="{9D8B030D-6E8A-4147-A177-3AD203B41FA5}">
                      <a16:colId xmlns:a16="http://schemas.microsoft.com/office/drawing/2014/main" val="3248024771"/>
                    </a:ext>
                  </a:extLst>
                </a:gridCol>
                <a:gridCol w="3705778">
                  <a:extLst>
                    <a:ext uri="{9D8B030D-6E8A-4147-A177-3AD203B41FA5}">
                      <a16:colId xmlns:a16="http://schemas.microsoft.com/office/drawing/2014/main" val="604073004"/>
                    </a:ext>
                  </a:extLst>
                </a:gridCol>
              </a:tblGrid>
              <a:tr h="7768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Trust Management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RSU Verifies &amp; Updates Reputation</a:t>
                      </a: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Efficient Bulk Storage of Updates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044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600C621-ACED-EBA2-553E-A6F16BE1C6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856659"/>
                  </p:ext>
                </p:extLst>
              </p:nvPr>
            </p:nvGraphicFramePr>
            <p:xfrm>
              <a:off x="7379740" y="4521035"/>
              <a:ext cx="4458813" cy="8534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35">
                      <a:extLst>
                        <a:ext uri="{9D8B030D-6E8A-4147-A177-3AD203B41FA5}">
                          <a16:colId xmlns:a16="http://schemas.microsoft.com/office/drawing/2014/main" val="3248024771"/>
                        </a:ext>
                      </a:extLst>
                    </a:gridCol>
                    <a:gridCol w="3705778">
                      <a:extLst>
                        <a:ext uri="{9D8B030D-6E8A-4147-A177-3AD203B41FA5}">
                          <a16:colId xmlns:a16="http://schemas.microsoft.com/office/drawing/2014/main" val="604073004"/>
                        </a:ext>
                      </a:extLst>
                    </a:gridCol>
                  </a:tblGrid>
                  <a:tr h="7768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AI-Based Adaptive Authentication</a:t>
                          </a:r>
                          <a:endParaRPr lang="en-GB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14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AI Detects Anomalies in Behavior (Location Patterns, Acceleration, Braking Frequency)</a:t>
                          </a:r>
                        </a:p>
                        <a:p>
                          <a:pPr algn="ctr"/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Low Trust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Stricter Checks/Revocation</a:t>
                          </a:r>
                          <a:r>
                            <a:rPr lang="en-GB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GB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704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600C621-ACED-EBA2-553E-A6F16BE1C6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856659"/>
                  </p:ext>
                </p:extLst>
              </p:nvPr>
            </p:nvGraphicFramePr>
            <p:xfrm>
              <a:off x="7379740" y="4521035"/>
              <a:ext cx="4458813" cy="8534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35">
                      <a:extLst>
                        <a:ext uri="{9D8B030D-6E8A-4147-A177-3AD203B41FA5}">
                          <a16:colId xmlns:a16="http://schemas.microsoft.com/office/drawing/2014/main" val="3248024771"/>
                        </a:ext>
                      </a:extLst>
                    </a:gridCol>
                    <a:gridCol w="3705778">
                      <a:extLst>
                        <a:ext uri="{9D8B030D-6E8A-4147-A177-3AD203B41FA5}">
                          <a16:colId xmlns:a16="http://schemas.microsoft.com/office/drawing/2014/main" val="604073004"/>
                        </a:ext>
                      </a:extLst>
                    </a:gridCol>
                  </a:tblGrid>
                  <a:tr h="853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478" t="-5797" r="-341" b="-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704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A795CA-8DC1-4E85-84A4-940AF2EB7477}"/>
              </a:ext>
            </a:extLst>
          </p:cNvPr>
          <p:cNvSpPr/>
          <p:nvPr/>
        </p:nvSpPr>
        <p:spPr>
          <a:xfrm>
            <a:off x="9103175" y="5759428"/>
            <a:ext cx="1011936" cy="4281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9BA491-074B-65ED-8E84-4BDE46462CD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9609149" y="574077"/>
            <a:ext cx="1" cy="384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13534D-41A2-AF78-8D31-80CA2A705076}"/>
              </a:ext>
            </a:extLst>
          </p:cNvPr>
          <p:cNvCxnSpPr/>
          <p:nvPr/>
        </p:nvCxnSpPr>
        <p:spPr>
          <a:xfrm flipH="1">
            <a:off x="9609145" y="1812470"/>
            <a:ext cx="1" cy="384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CB4002-D892-F260-2308-383CE26FB648}"/>
              </a:ext>
            </a:extLst>
          </p:cNvPr>
          <p:cNvCxnSpPr/>
          <p:nvPr/>
        </p:nvCxnSpPr>
        <p:spPr>
          <a:xfrm flipH="1">
            <a:off x="9609144" y="2974276"/>
            <a:ext cx="1" cy="384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BF2784-E0C8-C17E-9462-BEB8C1973FAB}"/>
              </a:ext>
            </a:extLst>
          </p:cNvPr>
          <p:cNvCxnSpPr/>
          <p:nvPr/>
        </p:nvCxnSpPr>
        <p:spPr>
          <a:xfrm flipH="1">
            <a:off x="9609143" y="4136082"/>
            <a:ext cx="1" cy="384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113ED9-05B9-AA4E-B055-1DE5A45714DE}"/>
              </a:ext>
            </a:extLst>
          </p:cNvPr>
          <p:cNvCxnSpPr/>
          <p:nvPr/>
        </p:nvCxnSpPr>
        <p:spPr>
          <a:xfrm flipH="1">
            <a:off x="9614959" y="5374475"/>
            <a:ext cx="1" cy="3849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AB969B-9C46-F281-FAA2-29FCFC10BAA9}"/>
              </a:ext>
            </a:extLst>
          </p:cNvPr>
          <p:cNvSpPr txBox="1"/>
          <p:nvPr/>
        </p:nvSpPr>
        <p:spPr>
          <a:xfrm>
            <a:off x="7379740" y="6313978"/>
            <a:ext cx="4458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 2: Flowchart of the proposed scheme</a:t>
            </a:r>
          </a:p>
        </p:txBody>
      </p:sp>
    </p:spTree>
    <p:extLst>
      <p:ext uri="{BB962C8B-B14F-4D97-AF65-F5344CB8AC3E}">
        <p14:creationId xmlns:p14="http://schemas.microsoft.com/office/powerpoint/2010/main" val="52797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FC20-0EE5-943D-A521-5B51522D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F1193-81EA-C10F-874C-D3273598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5777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LabVIEW: real-time cryptographic verification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Hyperledger Fabric: secure blockchain-based reputation tracking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Module: Neural network-based anomaly detection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Scalability Tests: Simulations for 100-1000 vehicles</a:t>
            </a:r>
          </a:p>
        </p:txBody>
      </p:sp>
    </p:spTree>
    <p:extLst>
      <p:ext uri="{BB962C8B-B14F-4D97-AF65-F5344CB8AC3E}">
        <p14:creationId xmlns:p14="http://schemas.microsoft.com/office/powerpoint/2010/main" val="50143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665B-2BA8-8BA7-85DB-B3E346B3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7F281E6-C51A-DE5B-0002-8DEF9785C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6408" y="1859836"/>
            <a:ext cx="8296892" cy="4239193"/>
          </a:xfr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A88E88D-FC3C-8962-30B3-035A7075A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502" y="1183242"/>
            <a:ext cx="3260090" cy="4915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330962-FC46-CB52-AA9E-3EC6CB5E8F34}"/>
              </a:ext>
            </a:extLst>
          </p:cNvPr>
          <p:cNvSpPr txBox="1"/>
          <p:nvPr/>
        </p:nvSpPr>
        <p:spPr>
          <a:xfrm>
            <a:off x="216408" y="6262037"/>
            <a:ext cx="7185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 3: LabView simulation for cryptographic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B9BDB-CD38-AFEB-08B5-D5EA888FF402}"/>
              </a:ext>
            </a:extLst>
          </p:cNvPr>
          <p:cNvSpPr txBox="1"/>
          <p:nvPr/>
        </p:nvSpPr>
        <p:spPr>
          <a:xfrm>
            <a:off x="8715502" y="6262037"/>
            <a:ext cx="4458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 4: An example of Blockchain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Smart contract functionality</a:t>
            </a:r>
          </a:p>
        </p:txBody>
      </p:sp>
      <p:pic>
        <p:nvPicPr>
          <p:cNvPr id="9" name="WhatsApp Video 2025-03-19 at 21.38.30">
            <a:hlinkClick r:id="" action="ppaction://media"/>
            <a:extLst>
              <a:ext uri="{FF2B5EF4-FFF2-40B4-BE49-F238E27FC236}">
                <a16:creationId xmlns:a16="http://schemas.microsoft.com/office/drawing/2014/main" id="{57EDC2E5-9FDB-7751-4B23-54C43B7671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408" y="1873366"/>
            <a:ext cx="8296892" cy="422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1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6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A97A-CABF-EC42-EAAD-0A11B0D2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Results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9700-7778-027C-8FB6-4186DE2E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667250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44EB56-5B7D-DC26-3966-37070DEF7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49146"/>
              </p:ext>
            </p:extLst>
          </p:nvPr>
        </p:nvGraphicFramePr>
        <p:xfrm>
          <a:off x="838200" y="1541209"/>
          <a:ext cx="10515600" cy="2419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7080">
                  <a:extLst>
                    <a:ext uri="{9D8B030D-6E8A-4147-A177-3AD203B41FA5}">
                      <a16:colId xmlns:a16="http://schemas.microsoft.com/office/drawing/2014/main" val="3016263604"/>
                    </a:ext>
                  </a:extLst>
                </a:gridCol>
                <a:gridCol w="1694688">
                  <a:extLst>
                    <a:ext uri="{9D8B030D-6E8A-4147-A177-3AD203B41FA5}">
                      <a16:colId xmlns:a16="http://schemas.microsoft.com/office/drawing/2014/main" val="2516939978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41786945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729864504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1199798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PKI</a:t>
                      </a:r>
                      <a:endParaRPr lang="en-GB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Blockchain</a:t>
                      </a:r>
                      <a:endParaRPr lang="en-GB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ID-MAP</a:t>
                      </a:r>
                      <a:endParaRPr lang="en-GB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HB-RPVAM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75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Authentication Latency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GB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messages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868504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86264"/>
                  </a:ext>
                </a:extLst>
              </a:tr>
              <a:tr h="429006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Bandwidth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GB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messages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961840"/>
                  </a:ext>
                </a:extLst>
              </a:tr>
              <a:tr h="521462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Cost 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1000 updates</a:t>
                      </a: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460635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B2AE212-664C-B0BE-1195-3D2F57DE7C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78" r="7183"/>
          <a:stretch/>
        </p:blipFill>
        <p:spPr>
          <a:xfrm>
            <a:off x="0" y="4016548"/>
            <a:ext cx="4093464" cy="284145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DBFBB51-4012-D9F7-7509-E87F0B76A1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141" r="8141"/>
          <a:stretch/>
        </p:blipFill>
        <p:spPr>
          <a:xfrm>
            <a:off x="4256749" y="3961067"/>
            <a:ext cx="3884457" cy="28999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535AA62-8FEC-467B-C1AD-DC075CB9AC2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070" r="8421"/>
          <a:stretch/>
        </p:blipFill>
        <p:spPr>
          <a:xfrm>
            <a:off x="8304492" y="4016548"/>
            <a:ext cx="3887508" cy="284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70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FDDA2BA-4AE8-5589-9D98-ABB6BAD9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Performance Analysis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8133A2-AEC4-BDB6-174D-31E0A0C3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3x lower latency than PKI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O(log n) complexity proxy verification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85% reduction in on-chain costs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 swiftly flags malicious nodes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85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3564-DBDB-2ECD-0488-0554A183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Security Analysis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662698-4131-D7C2-DFF9-722FBD5C1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623445"/>
              </p:ext>
            </p:extLst>
          </p:nvPr>
        </p:nvGraphicFramePr>
        <p:xfrm>
          <a:off x="838200" y="2316480"/>
          <a:ext cx="105156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3466423174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4066352557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Challenges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Defence Mechanism in HB-RPVAM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117386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Sybil Attack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Reputation binding + AI anomaly detection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69169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Replay Attack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Timestamped signatures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034121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MITM Attack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ECC signatures &amp; multi-proxy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830619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Modification Attack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Cryptographic hashing (signature invalidation)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774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Collusion Attack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Multi-signature &amp; multi-proxy checks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8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57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17EA-75C7-92F3-3316-A37642E8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Conclusion &amp; Future Work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05FF7-8C2B-41BE-3576-37B86B11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304"/>
            <a:ext cx="10515600" cy="482657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Effective large scale VANET security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Successfully integrates blockchain and reputation scoring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Proven low latency and scalable authentication (O(log n))</a:t>
            </a:r>
          </a:p>
          <a:p>
            <a:pPr>
              <a:lnSpc>
                <a:spcPct val="11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Real-world testbed implementation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Privacy improvements with zero knowledge proofs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Further refinement of AI behavioral analysis</a:t>
            </a:r>
          </a:p>
        </p:txBody>
      </p:sp>
    </p:spTree>
    <p:extLst>
      <p:ext uri="{BB962C8B-B14F-4D97-AF65-F5344CB8AC3E}">
        <p14:creationId xmlns:p14="http://schemas.microsoft.com/office/powerpoint/2010/main" val="2109910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0AAE-6189-CFF7-01DD-9558F03F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595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0304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516</Words>
  <Application>Microsoft Macintosh PowerPoint</Application>
  <PresentationFormat>Widescreen</PresentationFormat>
  <Paragraphs>149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Helvetica</vt:lpstr>
      <vt:lpstr>Times New Roman</vt:lpstr>
      <vt:lpstr>Office Theme</vt:lpstr>
      <vt:lpstr>Securing Wireless Vehicle Communications</vt:lpstr>
      <vt:lpstr>Why Secure Wireless Vehicle Communications?</vt:lpstr>
      <vt:lpstr>Current Gaps in State of the Art</vt:lpstr>
      <vt:lpstr>Introducing HB-RPVAM (Hybrid Reputation-Based Blockchain &amp; Proxy Vehicle Authentication Model) </vt:lpstr>
      <vt:lpstr>System Architecture</vt:lpstr>
      <vt:lpstr>Workflow Overview</vt:lpstr>
      <vt:lpstr>Implementation</vt:lpstr>
      <vt:lpstr>Simulation</vt:lpstr>
      <vt:lpstr>Key Results</vt:lpstr>
      <vt:lpstr>Performance Analysis</vt:lpstr>
      <vt:lpstr>Security Analysis</vt:lpstr>
      <vt:lpstr>Conclusion &amp; 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Adeem Azad (student)</dc:creator>
  <cp:lastModifiedBy>Adeem Azad (student)</cp:lastModifiedBy>
  <cp:revision>43</cp:revision>
  <dcterms:created xsi:type="dcterms:W3CDTF">2025-03-17T14:59:31Z</dcterms:created>
  <dcterms:modified xsi:type="dcterms:W3CDTF">2026-03-05T21:32:33Z</dcterms:modified>
</cp:coreProperties>
</file>